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Hive lets us write SQL-like queries that run as MapReduce/Tez jobs on HDFS data. Today: the query side of Hive plus how to extend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three-step flow on the board. Stress schema-on-read vs schema-on-write (RDBMS).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asked: difference between ORDER BY and SORT 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non-aggregated column in SELECT must appear in GROUP 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word-count as a mental model: map emits (word,1), reduce sums.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LEFT SEMI JOIN: Hive historically had weak IN/EXISTS subquery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view with table: view stores only the query definition in the metastore.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map join = give every worker a copy of the small phone book instead of sending everyone to one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Built-in examples: UDF = concat, UDAF = sum, UDTF = explode.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mistake: using OVERWRITE and wiping a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Hadoop streaming under the hood.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run a small .hql with a parameter.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explain each line in their own words. Suggest practice: employees/departments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097280" cy="64008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3" name="Text 1"/>
          <p:cNvSpPr txBox="1"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Querying &amp; Manipulating Data with HiveQL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13  |  Sorting, Aggregation, Joins, Views, UDFs, Scripts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HiveQL in 60 Seconds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Hive = SQL-like layer over Hadoop; HiveQL queries are compiled into MapReduce / Tez / Spark jobs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920240"/>
          </a:xfrm>
          <a:prstGeom prst="rect">
            <a:avLst/>
          </a:prstGeom>
          <a:solidFill>
            <a:srgbClr val="1F8A8A"/>
          </a:solidFill>
        </p:spPr>
      </p:sp>
      <p:sp>
        <p:nvSpPr>
          <p:cNvPr id="8" name="Text 6"/>
          <p:cNvSpPr txBox="1"/>
          <p:nvPr/>
        </p:nvSpPr>
        <p:spPr>
          <a:xfrm>
            <a:off x="640080" y="149047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You write HQL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... FROM ... like SQL. No Java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17320"/>
            <a:ext cx="73152" cy="1920240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12" name="Text 10"/>
          <p:cNvSpPr txBox="1"/>
          <p:nvPr/>
        </p:nvSpPr>
        <p:spPr>
          <a:xfrm>
            <a:off x="3474720" y="149047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Hive compiles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8288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Parser &gt; Optimizer &gt; Execution plan (DAG of MapReduce stages).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417320"/>
            <a:ext cx="73152" cy="1920240"/>
          </a:xfrm>
          <a:prstGeom prst="rect">
            <a:avLst/>
          </a:prstGeom>
          <a:solidFill>
            <a:srgbClr val="1F8A8A"/>
          </a:solidFill>
        </p:spPr>
      </p:sp>
      <p:sp>
        <p:nvSpPr>
          <p:cNvPr id="16" name="Text 14"/>
          <p:cNvSpPr txBox="1"/>
          <p:nvPr/>
        </p:nvSpPr>
        <p:spPr>
          <a:xfrm>
            <a:off x="6309360" y="149047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Hadoop runs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8288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Jobs run on YARN, reading data from HDFS. Metastore stores table schema.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Schema-on-read: structure is applied when you query, not when you load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for batch analytics (OLAP), not low-latency OLTP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 database: no row-level real-time updates by default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20" name="Text 18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"Hive is NOT a database; it is a data warehouse tool on top of HDFS."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Sorting Data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clauses that look similar but behave very differently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Clause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Scope of sorting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Reducers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 when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ORDER BY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Total/global order of all output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Exactly 1 (slow on big data)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Small result, top-N, reports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SORT BY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Sorted within each reducer only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Big data, partial order is fine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DISTRIBUTE BY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Controls which reducer gets which rows (no sorting)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Group same key to same reducer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CLUSTER BY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Shortcut: DISTRIBUTE BY + SORT BY on same column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Same key together and sorted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29000"/>
            <a:ext cx="8229600" cy="822960"/>
          </a:xfrm>
          <a:prstGeom prst="rect">
            <a:avLst/>
          </a:prstGeom>
          <a:solidFill>
            <a:srgbClr val="1B1F2A"/>
          </a:solidFill>
        </p:spPr>
      </p:sp>
      <p:sp>
        <p:nvSpPr>
          <p:cNvPr id="8" name="Text 5"/>
          <p:cNvSpPr txBox="1"/>
          <p:nvPr/>
        </p:nvSpPr>
        <p:spPr>
          <a:xfrm>
            <a:off x="594360" y="3520440"/>
            <a:ext cx="79552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* FROM emp ORDER BY salary DESC LIMIT 10;      -- global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* FROM emp DISTRIBUTE BY dept SORT BY dept, salary;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10" name="Text 7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ORDER BY = 1 reducer = bottleneck. In strict mode it needs LIMIT.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Aggregating Data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Collapse many rows into summary values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Built-ins: COUNT, SUM, AVG, MIN, MAX, collect_set, collect_list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BY: one output row per group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HAVING: filters groups after aggregation (WHERE filters rows before)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Map-side aggregation (hive.map.aggr=true) reduces shuffle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COUNT(*) counts all rows; COUNT(col) skips NULLs; COUNT(DISTINCT col) is costly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114800" cy="2377440"/>
          </a:xfrm>
          <a:prstGeom prst="rect">
            <a:avLst/>
          </a:prstGeom>
          <a:solidFill>
            <a:srgbClr val="1B1F2A"/>
          </a:solidFill>
        </p:spPr>
      </p:sp>
      <p:sp>
        <p:nvSpPr>
          <p:cNvPr id="8" name="Text 6"/>
          <p:cNvSpPr txBox="1"/>
          <p:nvPr/>
        </p:nvSpPr>
        <p:spPr>
          <a:xfrm>
            <a:off x="4709160" y="1463040"/>
            <a:ext cx="38404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dept,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COUNT(*)    AS emp_cnt,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AVG(salary) AS avg_sal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  emp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WHERE  status = 'ACTIVE'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 BY dept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HAVING AVG(salary) &gt; 50000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  BY avg_sal DESC;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8404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Order: FROM &gt; WHERE &gt; GROUP BY &gt; HAVING &gt; SELECT &gt; ORDER BY &gt; LIMIT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11" name="Text 9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WHERE vs HAVING is a classic fresher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Query Becomes MapReduce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this is what separates strong candidates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1371600"/>
          </a:xfrm>
          <a:prstGeom prst="rect">
            <a:avLst/>
          </a:prstGeom>
          <a:solidFill>
            <a:srgbClr val="1F8A8A"/>
          </a:solidFill>
        </p:spPr>
      </p:sp>
      <p:sp>
        <p:nvSpPr>
          <p:cNvPr id="8" name="Text 6"/>
          <p:cNvSpPr txBox="1"/>
          <p:nvPr/>
        </p:nvSpPr>
        <p:spPr>
          <a:xfrm>
            <a:off x="640080" y="153619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rows, filter, emit (key, value)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463040"/>
            <a:ext cx="73152" cy="1371600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12" name="Text 10"/>
          <p:cNvSpPr txBox="1"/>
          <p:nvPr/>
        </p:nvSpPr>
        <p:spPr>
          <a:xfrm>
            <a:off x="2743200" y="153619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Shuffle &amp; Sort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87452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same keys, send to reducers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463040"/>
            <a:ext cx="73152" cy="1371600"/>
          </a:xfrm>
          <a:prstGeom prst="rect">
            <a:avLst/>
          </a:prstGeom>
          <a:solidFill>
            <a:srgbClr val="1F8A8A"/>
          </a:solidFill>
        </p:spPr>
      </p:sp>
      <p:sp>
        <p:nvSpPr>
          <p:cNvPr id="16" name="Text 14"/>
          <p:cNvSpPr txBox="1"/>
          <p:nvPr/>
        </p:nvSpPr>
        <p:spPr>
          <a:xfrm>
            <a:off x="4846320" y="153619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87452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 / join per key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4630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463040"/>
            <a:ext cx="73152" cy="1371600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20" name="Text 18"/>
          <p:cNvSpPr txBox="1"/>
          <p:nvPr/>
        </p:nvSpPr>
        <p:spPr>
          <a:xfrm>
            <a:off x="6949440" y="153619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87452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result to HDFS / table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... WHERE only = map-only job (fast, no reducer)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BY / ORDER BY / JOIN = needs shuffle, so map + reduce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shows the plan; set hive.execution.engine=tez to run faster than MR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reducers: SET mapreduce.job.reduces=10;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24" name="Text 22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Be able to explain Map, Shuffle, Reduce using GROUP BY as the example.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rows from two or more tables on a key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INNER JOIN: only matching rows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LEFT / RIGHT OUTER: keep all rows from one side, NULL if no match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OUTER: keep all rows from both sides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LEFT SEMI JOIN: like IN/EXISTS, returns left columns only (efficient)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 JOIN: Cartesian product (avoid)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equi-joins (=) are supported in ON; put big table last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2926080"/>
          </a:xfrm>
          <a:prstGeom prst="rect">
            <a:avLst/>
          </a:prstGeom>
          <a:solidFill>
            <a:srgbClr val="1B1F2A"/>
          </a:solidFill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e.name, d.dept_name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  emp 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JOIN   dept 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ON   e.dept_id = d.id;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Left semi join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e.*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emp 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LEFT SEMI JOIN dept 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ON e.dept_id = d.id;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10" name="Text 8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Hive does not support non-equi joins in ON clause (older versions).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Subqueries &amp; Views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1F8A8A"/>
          </a:solidFill>
        </p:spPr>
      </p:sp>
      <p:sp>
        <p:nvSpPr>
          <p:cNvPr id="7" name="Text 5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Subqueries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08760"/>
            <a:ext cx="37490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inside a query.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FROM clause: needs an alias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SELECT t.dept FROM (SELECT dept, AVG(sal) a FROM emp GROUP BY dept) t WHERE t.a&gt;50000;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WHERE clause: IN / EXISTS supported (Hive 0.13+)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Correlated subqueries have limited support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3200400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11" name="Text 9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508760"/>
            <a:ext cx="37490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query, no data stored (logical).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VIEW high_paid 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* FROM emp WHERE salary&gt;80000;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Simplifies complex queries, hides columns (security)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Query runs each time view is used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Materialized views store results (Hive 3+)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DROP VIEW high_paid;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14" name="Text 12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View = virtual table; it does not improve performance by itself.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Map-Side vs Reduce-Side Joins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the right join strategy is a key optimization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2286000"/>
          </a:xfrm>
          <a:prstGeom prst="rect">
            <a:avLst/>
          </a:prstGeom>
          <a:solidFill>
            <a:srgbClr val="1F8A8A"/>
          </a:solidFill>
        </p:spPr>
      </p:sp>
      <p:sp>
        <p:nvSpPr>
          <p:cNvPr id="8" name="Text 6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Reduce-Side (Common) Join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7490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Default. Both tables are shuffled by join key; the join happens in reducers.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Works for any table size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Heavy network shuffle, slower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73152" cy="2286000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12" name="Text 10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Map-Side (Broadcast) Join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08760"/>
            <a:ext cx="374904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table is loaded in memory in every mapper; no reduce phase.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Much faster, no shuffle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 Small table must fit in 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868680"/>
          </a:xfrm>
          <a:prstGeom prst="rect">
            <a:avLst/>
          </a:prstGeom>
          <a:solidFill>
            <a:srgbClr val="1B1F2A"/>
          </a:solidFill>
        </p:spPr>
      </p:sp>
      <p:sp>
        <p:nvSpPr>
          <p:cNvPr id="15" name="Text 13"/>
          <p:cNvSpPr txBox="1"/>
          <p:nvPr/>
        </p:nvSpPr>
        <p:spPr>
          <a:xfrm>
            <a:off x="594360" y="3566160"/>
            <a:ext cx="7955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hive.auto.convert.join=true;           -- auto map join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hive.mapjoin.smalltable.filesize=25000000; -- ~25 MB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/*+ MAPJOIN(d) */ e.name, d.dept_name FROM emp e JOIN dept d ON e.dept_id=d.id;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17" name="Text 15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Also know: Bucket map join and Sort-Merge-Bucket (SMB) join for two large bucketed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Defined Functions (UDFs)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Hive when built-in functions are not enough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1F8A8A"/>
          </a:solidFill>
        </p:spPr>
      </p:sp>
      <p:sp>
        <p:nvSpPr>
          <p:cNvPr id="8" name="Text 6"/>
          <p:cNvSpPr txBox="1"/>
          <p:nvPr/>
        </p:nvSpPr>
        <p:spPr>
          <a:xfrm>
            <a:off x="640080" y="14447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UDF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row in, 1 row 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e.g. custom upper-case, masking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371600"/>
            <a:ext cx="73152" cy="1554480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12" name="Text 10"/>
          <p:cNvSpPr txBox="1"/>
          <p:nvPr/>
        </p:nvSpPr>
        <p:spPr>
          <a:xfrm>
            <a:off x="3474720" y="14447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UDAF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78308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rows in, 1 value 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e.g. custom SUM / median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73152" cy="1554480"/>
          </a:xfrm>
          <a:prstGeom prst="rect">
            <a:avLst/>
          </a:prstGeom>
          <a:solidFill>
            <a:srgbClr val="1F8A8A"/>
          </a:solidFill>
        </p:spPr>
      </p:sp>
      <p:sp>
        <p:nvSpPr>
          <p:cNvPr id="16" name="Text 14"/>
          <p:cNvSpPr txBox="1"/>
          <p:nvPr/>
        </p:nvSpPr>
        <p:spPr>
          <a:xfrm>
            <a:off x="6309360" y="144475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UDTF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78308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row in, many rows 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e.g. explode(), split into rows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754880" cy="1188720"/>
          </a:xfrm>
          <a:prstGeom prst="rect">
            <a:avLst/>
          </a:prstGeom>
          <a:solidFill>
            <a:srgbClr val="1B1F2A"/>
          </a:solidFill>
        </p:spPr>
      </p:sp>
      <p:sp>
        <p:nvSpPr>
          <p:cNvPr id="19" name="Text 17"/>
          <p:cNvSpPr txBox="1"/>
          <p:nvPr/>
        </p:nvSpPr>
        <p:spPr>
          <a:xfrm>
            <a:off x="594360" y="320040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 JAR /home/user/myudf.jar;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TEMPORARY FUNCTION mask AS 'com.demo.MaskUDF';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mask(phone) FROM customers;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154680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in Java: extend UDF / GenericUDF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TEMPORARY = session only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via TRANSFORM too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22" name="Text 20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Know the 3 types by input/output row counts: UDF 1-1, UDAF n-1, UDTF 1-n.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Loading &amp; Appending Data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INTO adds; INSERT OVERWRITE replaces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188720"/>
          <a:ext cx="8229600" cy="2057400"/>
        </p:xfrm>
        <a:graphic>
          <a:graphicData uri="http://schemas.openxmlformats.org/drawingml/2006/table">
            <a:tbl>
              <a:tblPr/>
              <a:tblGrid>
                <a:gridCol w="3931920"/>
                <a:gridCol w="429768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Command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Effect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LOAD DATA LOCAL INPATH ... INTO TABLE t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Copy local file into table dir (append). No transformation.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LOAD DATA INPATH ... OVERWRITE INTO TABLE t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Moves HDFS file; replaces existing data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INSERT INTO TABLE t SELECT ...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Appends query result to existing data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INSERT OVERWRITE TABLE t SELECT ...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Deletes old data, writes new result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Partitioned: INSERT INTO t PARTITION (dt='2026-10-01') SELECT 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DATA only moves files; it does not validate or convert format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Row-level UPDATE/DELETE need ACID (transactional ORC tables)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9" name="Text 6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LOAD DATA from HDFS MOVES the file; from LOCAL it COPIES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Map/Reduce in Hive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Plug your own scripts (Python, shell) into a query with TRANSFORM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937760" cy="3017520"/>
          </a:xfrm>
          <a:prstGeom prst="rect">
            <a:avLst/>
          </a:prstGeom>
          <a:solidFill>
            <a:srgbClr val="1B1F2A"/>
          </a:solidFill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46634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 FILE clean.py;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TRANSFORM (id, comment)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USING 'python clean.py'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AS (id, clean_comment)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reviews;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Older explicit style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(FROM logs MAP ip, url USING 'mapper.py' AS k, 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CLUSTER BY k) 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REDUCE m.k, m.v USING 'reducer.py' AS k, total;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280160"/>
            <a:ext cx="310896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 reads rows from stdin (tab-separated) and writes to stdout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 logic is too complex for SQL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/ REDUCE keywords = syntax sugar over TRANSFORM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BY ensures reducer gets sorted, grouped keys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 than UDFs (process spawn, serialization)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10" name="Text 8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Prefer built-in functions, then UDF, then TRANSFORM as last resort.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HQL Scripts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queries as repeatable .hql files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120640" cy="2103120"/>
          </a:xfrm>
          <a:prstGeom prst="rect">
            <a:avLst/>
          </a:prstGeom>
          <a:solidFill>
            <a:srgbClr val="1B1F2A"/>
          </a:solidFill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report.hql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hive.exec.dynamic.partition=true;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 sales;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INSERT OVERWRITE TABLE daily_sales PARTITION (dt='${hiveconf:run_date}')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product, SUM(amount)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  orders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WHERE  order_date = '${hiveconf:run_date}'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 BY product;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1B1F2A"/>
          </a:solidFill>
        </p:spPr>
      </p:sp>
      <p:sp>
        <p:nvSpPr>
          <p:cNvPr id="9" name="Text 7"/>
          <p:cNvSpPr txBox="1"/>
          <p:nvPr/>
        </p:nvSpPr>
        <p:spPr>
          <a:xfrm>
            <a:off x="594360" y="352044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hive -f report.hql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hive -e "SHOW TABLES;"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hive --hiveconf run_date=2026-10-01 -f report.hql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beeline -u jdbc:hive2://host:10000 -f report.hql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234440"/>
            <a:ext cx="292608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-f runs file, -e runs inline query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--hiveconf / --hivevar pass parameters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-- starts a comment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 with cron, Oozie or Airflow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F4CC"/>
          </a:solidFill>
        </p:spPr>
      </p:sp>
      <p:sp>
        <p:nvSpPr>
          <p:cNvPr id="12" name="Text 10"/>
          <p:cNvSpPr txBox="1"/>
          <p:nvPr/>
        </p:nvSpPr>
        <p:spPr>
          <a:xfrm>
            <a:off x="594360" y="4434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2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tip: Know hive -f vs hive -e, and that Beeline (HiveServer2) replaces the old Hive CLI.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Questions (1/2)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7899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ORDER BY vs SORT BY?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ORDER BY gives global order using one reducer; SORT BY sorts only within each reducer.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0195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Internal (managed) vs external table?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Dropping managed deletes data + metadata; external deletes only metadata.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72491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WHERE vs HAVING?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WHERE filters rows before grouping; HAVING filters groups after aggregation.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4787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What is a map join and when to use it?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Small table is cached in mapper memory so no reduce phase; use when one table is small.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437083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What is a LEFT SEMI JOIN?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Returns left-table rows that have a match on the right; works like IN/EXISTS.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Questions (2/2)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07899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Types of UDFs?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UDF (1 to 1), UDAF (many to 1), UDTF (1 to many, e.g. explode).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0195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INSERT INTO vs INSERT OVERWRITE?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INTO appends; OVERWRITE replaces existing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72491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What is a view? Does it store data?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A saved query; stores only definition, not data (except materialized views).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4787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How to optimize Hive queries?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Partitioning, bucketing, ORC format, Tez, map joins, vectorization, avoid ORDER BY on big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4370832"/>
            <a:ext cx="795528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How do you run a Hive script?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A: hive -f file.hql, or beeline -f; pass params with --hiveconf.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B700"/>
          </a:solidFill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Recap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786384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Sorting: ORDER BY (global) vs SORT BY / DISTRIBUTE BY / CLUSTER BY (per reducer)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Aggregation: GROUP BY + HAVING; understand map &gt; shuffle &gt; reduce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Joins: inner/outer/semi; map-side joins avoid shuffle for small tables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Views are virtual; subqueries need aliases in FROM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UDF / UDAF / UDTF extend Hive; TRANSFORM runs custom scripts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INTO appends, OVERWRITE replaces; automate with hive -f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8531</Words>
  <Application>WPS Presentation</Application>
  <PresentationFormat>On-screen Show (16:9)</PresentationFormat>
  <Paragraphs>348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Saritha B M Jhansi</cp:lastModifiedBy>
  <cp:revision>2</cp:revision>
  <dcterms:created xsi:type="dcterms:W3CDTF">2026-10-02T17:58:00Z</dcterms:created>
  <dcterms:modified xsi:type="dcterms:W3CDTF">2026-10-02T18:09:50Z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5792F1A03044460EB7A4446483CC1A57_12</vt:lpwstr>
  </property>
  <property fmtid="{D5CDD505-2E9C-101B-9397-08002B2CF9AE}" pid="3" name="KSOProductBuildVer">
    <vt:lpwstr>1033-12.1.0.28485</vt:lpwstr>
  </property>
</Properties>
</file>